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749240-0CDF-4345-83E8-F909853F6548}" v="17" dt="2025-12-02T03:56:24.360"/>
    <p1510:client id="{DB1EAA20-97D4-A231-598B-DBC15438273B}" v="423" dt="2025-12-01T23:27:47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563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100" b="-6178"/>
          <a:stretch>
            <a:fillRect/>
          </a:stretch>
        </p:blipFill>
        <p:spPr>
          <a:xfrm>
            <a:off x="0" y="268712"/>
            <a:ext cx="9144000" cy="52181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778669"/>
            <a:ext cx="3857625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AI and Breast Cancer Screening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57726" y="2689042"/>
            <a:ext cx="2461071" cy="145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2400" dirty="0">
                <a:solidFill>
                  <a:srgbClr val="F3F0DF"/>
                </a:solidFill>
                <a:latin typeface="DM Sans"/>
              </a:rPr>
              <a:t>A Reproduction</a:t>
            </a:r>
            <a:endParaRPr lang="en-US" sz="2400" dirty="0">
              <a:solidFill>
                <a:srgbClr val="000000"/>
              </a:solidFill>
              <a:latin typeface="DM Sans"/>
            </a:endParaRPr>
          </a:p>
          <a:p>
            <a:pPr algn="ctr">
              <a:lnSpc>
                <a:spcPts val="1900"/>
              </a:lnSpc>
            </a:pPr>
            <a:r>
              <a:rPr lang="en-US" sz="2400" dirty="0">
                <a:solidFill>
                  <a:srgbClr val="F3F0DF"/>
                </a:solidFill>
                <a:latin typeface="DM Sans"/>
              </a:rPr>
              <a:t> of Nationwide Real-World Implementation Findings</a:t>
            </a:r>
            <a:endParaRPr lang="en-US" sz="2400" dirty="0">
              <a:solidFill>
                <a:srgbClr val="000000"/>
              </a:solidFill>
              <a:latin typeface="DM Sans"/>
            </a:endParaRPr>
          </a:p>
          <a:p>
            <a:pPr marL="0" indent="0" algn="l">
              <a:lnSpc>
                <a:spcPts val="1900"/>
              </a:lnSpc>
              <a:buNone/>
            </a:pPr>
            <a:endParaRPr lang="en-US" sz="1450" dirty="0">
              <a:solidFill>
                <a:srgbClr val="E63946"/>
              </a:solidFill>
              <a:ea typeface="Calibri"/>
              <a:cs typeface="Calibri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572000" y="0"/>
            <a:ext cx="4572000" cy="521415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549" y="606828"/>
            <a:ext cx="40005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428625"/>
            <a:ext cx="4071938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B2545"/>
                </a:solidFill>
              </a:rPr>
              <a:t>The Challenge: Breast Cancer Screening in the Modern Era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239441"/>
            <a:ext cx="40719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B2545"/>
                </a:solidFill>
              </a:rPr>
              <a:t>Why Screening Matters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28638" y="1491258"/>
            <a:ext cx="4297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•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671513" y="1503759"/>
            <a:ext cx="3418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Breast cancer is the leading cause of cancer mortality in women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28638" y="1716984"/>
            <a:ext cx="4297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•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671513" y="1729485"/>
            <a:ext cx="1827423" cy="1617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800">
                <a:solidFill>
                  <a:srgbClr val="334E68"/>
                </a:solidFill>
                <a:latin typeface="Calibri"/>
                <a:ea typeface="Calibri"/>
                <a:cs typeface="Calibri"/>
              </a:rPr>
              <a:t>Mammography screening reduces mortality</a:t>
            </a:r>
          </a:p>
        </p:txBody>
      </p:sp>
      <p:sp>
        <p:nvSpPr>
          <p:cNvPr id="9" name="Text 6"/>
          <p:cNvSpPr/>
          <p:nvPr/>
        </p:nvSpPr>
        <p:spPr>
          <a:xfrm>
            <a:off x="528638" y="1942709"/>
            <a:ext cx="4297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•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71513" y="1951187"/>
            <a:ext cx="3235399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800">
                <a:solidFill>
                  <a:srgbClr val="334E68"/>
                </a:solidFill>
                <a:ea typeface="Calibri"/>
                <a:cs typeface="Calibri"/>
              </a:rPr>
              <a:t>Standard practice: two radiologists (double reading)</a:t>
            </a:r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8638" y="2168435"/>
            <a:ext cx="4297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•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671513" y="2180937"/>
            <a:ext cx="1737655" cy="1617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800">
                <a:solidFill>
                  <a:srgbClr val="334E68"/>
                </a:solidFill>
              </a:rPr>
              <a:t>Rising workload and radiologist shortages</a:t>
            </a:r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28638" y="2394161"/>
            <a:ext cx="4297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•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671513" y="2406662"/>
            <a:ext cx="8850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AI emerges as a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1556556" y="2406662"/>
            <a:ext cx="9920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potential solution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28625" y="2734187"/>
            <a:ext cx="40719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B2545"/>
                </a:solidFill>
              </a:rPr>
              <a:t>The PRAIM Study (Nature, 2024)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528638" y="2986004"/>
            <a:ext cx="4297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•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671513" y="2998505"/>
            <a:ext cx="3368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4E68"/>
                </a:solidFill>
              </a:rPr>
              <a:t>What: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976571" y="3033072"/>
            <a:ext cx="3569001" cy="407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" dirty="0">
                <a:solidFill>
                  <a:srgbClr val="334E68"/>
                </a:solidFill>
              </a:rPr>
              <a:t>We are analyzing a landmark study published in Nature Medicine that evaluates AI                 implementation in the German national mammography program.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800" dirty="0">
              <a:solidFill>
                <a:srgbClr val="334E68"/>
              </a:solidFill>
              <a:ea typeface="Calibri"/>
              <a:cs typeface="Calibri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87612" y="3423538"/>
            <a:ext cx="2889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4E68"/>
                </a:solidFill>
              </a:rPr>
              <a:t>Who: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976571" y="3415489"/>
            <a:ext cx="1591782" cy="1617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800">
                <a:solidFill>
                  <a:srgbClr val="334E68"/>
                </a:solidFill>
              </a:rPr>
              <a:t>Over 460,000 screening examinations.</a:t>
            </a:r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28638" y="3846044"/>
            <a:ext cx="4297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•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687612" y="3633166"/>
            <a:ext cx="3564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4E68"/>
                </a:solidFill>
              </a:rPr>
              <a:t>Claim: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996710" y="3649265"/>
            <a:ext cx="2015827" cy="284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" dirty="0">
                <a:solidFill>
                  <a:srgbClr val="334E68"/>
                </a:solidFill>
              </a:rPr>
              <a:t>Comparison of AI-assisted vs. Standard practice.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800" dirty="0">
              <a:solidFill>
                <a:srgbClr val="334E68"/>
              </a:solidFill>
              <a:ea typeface="Calibri"/>
              <a:cs typeface="Calibri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41931" y="3848000"/>
            <a:ext cx="40719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B2545"/>
                </a:solidFill>
              </a:rPr>
              <a:t>Our Independent Reproduction</a:t>
            </a:r>
            <a:endParaRPr lang="en-US" sz="987" dirty="0"/>
          </a:p>
        </p:txBody>
      </p:sp>
      <p:sp>
        <p:nvSpPr>
          <p:cNvPr id="35" name="Text 32"/>
          <p:cNvSpPr/>
          <p:nvPr/>
        </p:nvSpPr>
        <p:spPr>
          <a:xfrm>
            <a:off x="743957" y="4269626"/>
            <a:ext cx="371897" cy="16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750" b="1">
                <a:solidFill>
                  <a:srgbClr val="334E68"/>
                </a:solidFill>
                <a:latin typeface="Calibri"/>
                <a:ea typeface="Calibri"/>
                <a:cs typeface="Calibri"/>
              </a:rPr>
              <a:t>Evaluate:</a:t>
            </a:r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173140" y="4277675"/>
            <a:ext cx="3154710" cy="1617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800">
                <a:solidFill>
                  <a:srgbClr val="334E68"/>
                </a:solidFill>
                <a:latin typeface="Calibri"/>
                <a:ea typeface="Calibri"/>
                <a:cs typeface="Calibri"/>
              </a:rPr>
              <a:t>Critically assess the methodology used in the original real-world evaluation</a:t>
            </a:r>
            <a:endParaRPr lang="en-US" sz="800">
              <a:solidFill>
                <a:srgbClr val="334E68"/>
              </a:solidFill>
              <a:ea typeface="Calibri"/>
              <a:cs typeface="Calibri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43957" y="4507425"/>
            <a:ext cx="6018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4E68"/>
                </a:solidFill>
              </a:rPr>
              <a:t>Challenge:</a:t>
            </a:r>
            <a:endParaRPr lang="en-US" sz="784" dirty="0"/>
          </a:p>
        </p:txBody>
      </p:sp>
      <p:sp>
        <p:nvSpPr>
          <p:cNvPr id="39" name="Text 36"/>
          <p:cNvSpPr/>
          <p:nvPr/>
        </p:nvSpPr>
        <p:spPr>
          <a:xfrm>
            <a:off x="1172702" y="4096911"/>
            <a:ext cx="5419357" cy="341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800" dirty="0">
                <a:solidFill>
                  <a:srgbClr val="334E68"/>
                </a:solidFill>
                <a:ea typeface="Calibri"/>
                <a:cs typeface="Calibri"/>
              </a:rPr>
              <a:t>Replicate key screening performance indicators using the public dataset.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800" dirty="0">
              <a:solidFill>
                <a:srgbClr val="334E68"/>
              </a:solidFill>
              <a:ea typeface="Calibri"/>
              <a:cs typeface="Calibri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40712" y="4277937"/>
            <a:ext cx="469586" cy="161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•</a:t>
            </a:r>
            <a:endParaRPr lang="en-US" sz="784" dirty="0"/>
          </a:p>
        </p:txBody>
      </p:sp>
      <p:sp>
        <p:nvSpPr>
          <p:cNvPr id="41" name="Text 38"/>
          <p:cNvSpPr/>
          <p:nvPr/>
        </p:nvSpPr>
        <p:spPr>
          <a:xfrm>
            <a:off x="743957" y="4105307"/>
            <a:ext cx="1340751" cy="27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750" b="1">
                <a:solidFill>
                  <a:srgbClr val="334E68"/>
                </a:solidFill>
                <a:ea typeface="Calibri"/>
                <a:cs typeface="Calibri"/>
              </a:rPr>
              <a:t>Analyze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750" b="1">
              <a:solidFill>
                <a:srgbClr val="334E68"/>
              </a:solidFill>
              <a:ea typeface="Calibri"/>
              <a:cs typeface="Calibri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1273669" y="4551962"/>
            <a:ext cx="2808461" cy="2848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800" dirty="0">
                <a:solidFill>
                  <a:srgbClr val="334E68"/>
                </a:solidFill>
              </a:rPr>
              <a:t>conduct exploratory analyses to test the robustness of the findings.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800" dirty="0">
              <a:solidFill>
                <a:srgbClr val="334E68"/>
              </a:solidFill>
              <a:ea typeface="Calibri"/>
              <a:cs typeface="Calibri"/>
            </a:endParaRPr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528232"/>
            <a:ext cx="4071938" cy="271292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B866E4F-D058-E8A8-6752-1DC252F08147}"/>
              </a:ext>
            </a:extLst>
          </p:cNvPr>
          <p:cNvSpPr txBox="1"/>
          <p:nvPr/>
        </p:nvSpPr>
        <p:spPr>
          <a:xfrm>
            <a:off x="450762" y="4072945"/>
            <a:ext cx="136838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50" b="1">
                <a:solidFill>
                  <a:srgbClr val="E63946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511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15773" y="357188"/>
            <a:ext cx="4512454" cy="266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1600" b="1">
                <a:solidFill>
                  <a:srgbClr val="0B2545"/>
                </a:solidFill>
              </a:rPr>
              <a:t>Study Design: </a:t>
            </a:r>
            <a:r>
              <a:rPr lang="en-US" sz="16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PRAIM dataset from the Dryad Digital</a:t>
            </a:r>
            <a:endParaRPr lang="en-US" sz="1602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955477"/>
            <a:ext cx="4000500" cy="500063"/>
          </a:xfrm>
          <a:prstGeom prst="rect">
            <a:avLst/>
          </a:prstGeom>
          <a:solidFill>
            <a:srgbClr val="334E6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174" y="1126927"/>
            <a:ext cx="137517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83416" y="1098352"/>
            <a:ext cx="211415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Standard Screening (No AI)</a:t>
            </a:r>
            <a:endParaRPr lang="en-US" sz="1090" dirty="0"/>
          </a:p>
        </p:txBody>
      </p:sp>
      <p:sp>
        <p:nvSpPr>
          <p:cNvPr id="7" name="Shape 3"/>
          <p:cNvSpPr/>
          <p:nvPr/>
        </p:nvSpPr>
        <p:spPr>
          <a:xfrm>
            <a:off x="428625" y="1598414"/>
            <a:ext cx="4000500" cy="571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28625" y="1598414"/>
            <a:ext cx="4000500" cy="57150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Radiologist interpretation alone, without AI assistance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428625" y="2312789"/>
            <a:ext cx="4000500" cy="346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28625" y="2312789"/>
            <a:ext cx="28575" cy="34647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28625" y="2312789"/>
            <a:ext cx="4000500" cy="48122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/>
            <a:r>
              <a:rPr lang="en-US" sz="85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AI Usage: used_ai_viewer (Binary)</a:t>
            </a:r>
          </a:p>
          <a:p>
            <a:pPr algn="ctr">
              <a:lnSpc>
                <a:spcPts val="1200"/>
              </a:lnSpc>
            </a:pPr>
            <a:r>
              <a:rPr lang="en-US" sz="85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Outcome: cancer_detected (Confirmed cancer)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4714875" y="955477"/>
            <a:ext cx="4000500" cy="500063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854" y="1126927"/>
            <a:ext cx="157163" cy="1571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92741" y="1098352"/>
            <a:ext cx="168762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AI-Assisted Screening</a:t>
            </a:r>
            <a:endParaRPr lang="en-US" sz="1090" dirty="0"/>
          </a:p>
        </p:txBody>
      </p:sp>
      <p:sp>
        <p:nvSpPr>
          <p:cNvPr id="15" name="Shape 10"/>
          <p:cNvSpPr/>
          <p:nvPr/>
        </p:nvSpPr>
        <p:spPr>
          <a:xfrm>
            <a:off x="4714875" y="1598414"/>
            <a:ext cx="4000500" cy="571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714875" y="1598414"/>
            <a:ext cx="4000500" cy="57150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</a:rPr>
              <a:t>Radiologist interpretation supported by AI system (Vara)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4714875" y="2312789"/>
            <a:ext cx="4000500" cy="346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714875" y="2312789"/>
            <a:ext cx="28575" cy="34647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4714875" y="2312789"/>
            <a:ext cx="4000500" cy="50430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85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Process: had_recall (Patient called back)</a:t>
            </a:r>
          </a:p>
          <a:p>
            <a:pPr algn="ctr">
              <a:lnSpc>
                <a:spcPts val="1200"/>
              </a:lnSpc>
            </a:pPr>
            <a:r>
              <a:rPr lang="en-US" sz="85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Covariate: reader_set (Radiologist ID)</a:t>
            </a: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428625" y="2945011"/>
            <a:ext cx="8286750" cy="11179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00075" y="3116461"/>
            <a:ext cx="79438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B2545"/>
                </a:solidFill>
              </a:rPr>
              <a:t>Evaluation Criteria</a:t>
            </a:r>
            <a:endParaRPr lang="en-US" sz="885" dirty="0"/>
          </a:p>
        </p:txBody>
      </p:sp>
      <p:sp>
        <p:nvSpPr>
          <p:cNvPr id="22" name="Text 17"/>
          <p:cNvSpPr/>
          <p:nvPr/>
        </p:nvSpPr>
        <p:spPr>
          <a:xfrm>
            <a:off x="600075" y="3405783"/>
            <a:ext cx="3319114" cy="33958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750">
                <a:solidFill>
                  <a:srgbClr val="334E68"/>
                </a:solidFill>
              </a:rPr>
              <a:t>Cancer Detection Rate :</a:t>
            </a:r>
            <a:r>
              <a:rPr lang="en-US" sz="750">
                <a:solidFill>
                  <a:srgbClr val="334E68"/>
                </a:solidFill>
                <a:latin typeface="Calibri"/>
                <a:ea typeface="Calibri"/>
                <a:cs typeface="Calibri"/>
              </a:rPr>
              <a:t>Number of cancers detected per 1000 screening exams.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750">
              <a:solidFill>
                <a:srgbClr val="334E68"/>
              </a:solidFill>
              <a:ea typeface="Calibri"/>
              <a:cs typeface="Calibri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4643438" y="3405783"/>
            <a:ext cx="3700628" cy="33958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750" dirty="0">
                <a:solidFill>
                  <a:srgbClr val="334E68"/>
                </a:solidFill>
              </a:rPr>
              <a:t>Recall Rate (per 1,000 women): </a:t>
            </a:r>
            <a:r>
              <a:rPr lang="en-US" sz="750" dirty="0">
                <a:solidFill>
                  <a:srgbClr val="334E68"/>
                </a:solidFill>
                <a:latin typeface="Calibri"/>
                <a:ea typeface="Calibri"/>
                <a:cs typeface="Calibri"/>
              </a:rPr>
              <a:t>Proportion of women called back for further assessment.</a:t>
            </a:r>
          </a:p>
          <a:p>
            <a:pPr>
              <a:lnSpc>
                <a:spcPts val="1400"/>
              </a:lnSpc>
            </a:pPr>
            <a:endParaRPr lang="en-US" sz="750" dirty="0">
              <a:solidFill>
                <a:srgbClr val="334E68"/>
              </a:solidFill>
              <a:ea typeface="Calibri"/>
              <a:cs typeface="Calibri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600075" y="3720108"/>
            <a:ext cx="3330335" cy="33958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750" dirty="0">
                <a:solidFill>
                  <a:srgbClr val="334E68"/>
                </a:solidFill>
              </a:rPr>
              <a:t>Positive Predictive Value: </a:t>
            </a:r>
            <a:r>
              <a:rPr lang="en-US" sz="750" dirty="0">
                <a:solidFill>
                  <a:srgbClr val="334E68"/>
                </a:solidFill>
                <a:latin typeface="Calibri"/>
                <a:ea typeface="Calibri"/>
                <a:cs typeface="Calibri"/>
              </a:rPr>
              <a:t>Probability that a recalled patient actually has cancer.</a:t>
            </a:r>
          </a:p>
          <a:p>
            <a:pPr>
              <a:lnSpc>
                <a:spcPts val="1400"/>
              </a:lnSpc>
            </a:pPr>
            <a:endParaRPr lang="en-US" sz="750" dirty="0">
              <a:solidFill>
                <a:srgbClr val="334E68"/>
              </a:solidFill>
              <a:ea typeface="Calibri"/>
              <a:cs typeface="Calibri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643438" y="3720108"/>
            <a:ext cx="3900488" cy="17145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Statistical Significance (p-value)</a:t>
            </a:r>
            <a:endParaRPr lang="en-US" sz="780" dirty="0"/>
          </a:p>
        </p:txBody>
      </p:sp>
      <p:sp>
        <p:nvSpPr>
          <p:cNvPr id="26" name="Shape 21"/>
          <p:cNvSpPr/>
          <p:nvPr/>
        </p:nvSpPr>
        <p:spPr>
          <a:xfrm>
            <a:off x="428625" y="4277320"/>
            <a:ext cx="8286750" cy="525763"/>
          </a:xfrm>
          <a:prstGeom prst="rect">
            <a:avLst/>
          </a:prstGeom>
          <a:solidFill>
            <a:srgbClr val="334E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28625" y="4196827"/>
            <a:ext cx="8286750" cy="1033873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ctr"/>
            <a:r>
              <a:rPr lang="en-US"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Crude Logistic Model: A baseline assessment of the association between AI usage and cancer detection without adjusting for other variables.</a:t>
            </a:r>
          </a:p>
          <a:p>
            <a:pPr algn="ctr"/>
            <a:r>
              <a:rPr lang="en-US"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Adjusted Logistic Model: Includes "Reader Set" as a fixed effect to control for variability in individual radiologist performance and interpretation patterns.</a:t>
            </a:r>
          </a:p>
          <a:p>
            <a:pPr algn="ctr"/>
            <a:endParaRPr lang="en-US" sz="7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7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ts val="1400"/>
              </a:lnSpc>
            </a:pPr>
            <a:endParaRPr lang="en-US" sz="75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600075" y="3405783"/>
            <a:ext cx="9295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E63946"/>
                </a:solidFill>
              </a:rPr>
              <a:t>✓</a:t>
            </a:r>
            <a:endParaRPr lang="en-US" sz="885" dirty="0"/>
          </a:p>
        </p:txBody>
      </p:sp>
      <p:sp>
        <p:nvSpPr>
          <p:cNvPr id="29" name="Text 24"/>
          <p:cNvSpPr/>
          <p:nvPr/>
        </p:nvSpPr>
        <p:spPr>
          <a:xfrm>
            <a:off x="4643438" y="3405783"/>
            <a:ext cx="9295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E63946"/>
                </a:solidFill>
              </a:rPr>
              <a:t>✓</a:t>
            </a:r>
            <a:endParaRPr lang="en-US" sz="885" dirty="0"/>
          </a:p>
        </p:txBody>
      </p:sp>
      <p:sp>
        <p:nvSpPr>
          <p:cNvPr id="30" name="Text 25"/>
          <p:cNvSpPr/>
          <p:nvPr/>
        </p:nvSpPr>
        <p:spPr>
          <a:xfrm>
            <a:off x="600075" y="3720108"/>
            <a:ext cx="9295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E63946"/>
                </a:solidFill>
              </a:rPr>
              <a:t>✓</a:t>
            </a:r>
            <a:endParaRPr lang="en-US" sz="885" dirty="0"/>
          </a:p>
        </p:txBody>
      </p:sp>
      <p:sp>
        <p:nvSpPr>
          <p:cNvPr id="31" name="Text 26"/>
          <p:cNvSpPr/>
          <p:nvPr/>
        </p:nvSpPr>
        <p:spPr>
          <a:xfrm>
            <a:off x="4643438" y="3720108"/>
            <a:ext cx="9295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E63946"/>
                </a:solidFill>
              </a:rPr>
              <a:t>✓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347"/>
            <a:ext cx="9144000" cy="52474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B2545"/>
                </a:solidFill>
              </a:rPr>
              <a:t>Results: Modest Improvement in Cancer Detection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69752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B2545"/>
                </a:solidFill>
              </a:rPr>
              <a:t>Cancer Detection Rate (per 1,000 women)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1116211"/>
            <a:ext cx="12573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E68"/>
                </a:solidFill>
              </a:rPr>
              <a:t>Without AI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428625" y="1300163"/>
            <a:ext cx="12573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4E68"/>
                </a:solidFill>
              </a:rPr>
              <a:t>5.98 ‰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800225" y="1221581"/>
            <a:ext cx="1257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E68"/>
                </a:solidFill>
              </a:rPr>
              <a:t>→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171825" y="1116211"/>
            <a:ext cx="12573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E68"/>
                </a:solidFill>
              </a:rPr>
              <a:t>With AI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3171825" y="1300163"/>
            <a:ext cx="12573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2545"/>
                </a:solidFill>
              </a:rPr>
              <a:t>6.44 ‰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236301" y="1605558"/>
            <a:ext cx="385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3946"/>
                </a:solidFill>
              </a:rPr>
              <a:t>+7.7%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28625" y="1909167"/>
            <a:ext cx="40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74" i="1" dirty="0">
                <a:solidFill>
                  <a:srgbClr val="334E68"/>
                </a:solidFill>
              </a:rPr>
              <a:t>No AI: 201,079 | AI-assisted: 260,739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4714875" y="869752"/>
            <a:ext cx="4000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B2545"/>
                </a:solidFill>
              </a:rPr>
              <a:t>Recall Rate (per 1,000 women)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714875" y="1116211"/>
            <a:ext cx="12573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E68"/>
                </a:solidFill>
              </a:rPr>
              <a:t>Without AI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4714875" y="1300163"/>
            <a:ext cx="12573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4E68"/>
                </a:solidFill>
              </a:rPr>
              <a:t>38.43 ‰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086475" y="1221581"/>
            <a:ext cx="1257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E68"/>
                </a:solidFill>
              </a:rPr>
              <a:t>→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7458075" y="1116211"/>
            <a:ext cx="12573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E68"/>
                </a:solidFill>
              </a:rPr>
              <a:t>With AI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7458075" y="1300163"/>
            <a:ext cx="12573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2545"/>
                </a:solidFill>
              </a:rPr>
              <a:t>44.50 ‰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6484879" y="1605558"/>
            <a:ext cx="4604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3946"/>
                </a:solidFill>
              </a:rPr>
              <a:t>+15.9%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714875" y="1909167"/>
            <a:ext cx="40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74" i="1" dirty="0">
                <a:solidFill>
                  <a:srgbClr val="334E68"/>
                </a:solidFill>
              </a:rPr>
              <a:t>Total: 461,818 women screened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428625" y="2235994"/>
            <a:ext cx="8286750" cy="434318"/>
          </a:xfrm>
          <a:prstGeom prst="rect">
            <a:avLst/>
          </a:prstGeom>
          <a:solidFill>
            <a:srgbClr val="334E6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25" y="2396728"/>
            <a:ext cx="85725" cy="1143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65107" y="2375297"/>
            <a:ext cx="7663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Key Message:</a:t>
            </a:r>
            <a:endParaRPr lang="en-US" sz="784" dirty="0"/>
          </a:p>
        </p:txBody>
      </p:sp>
      <p:sp>
        <p:nvSpPr>
          <p:cNvPr id="23" name="Text 19"/>
          <p:cNvSpPr/>
          <p:nvPr/>
        </p:nvSpPr>
        <p:spPr>
          <a:xfrm>
            <a:off x="2047199" y="2375297"/>
            <a:ext cx="3228448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AI improves cancer detection but significantly increases unnecessary recalls.</a:t>
            </a:r>
            <a:endParaRPr lang="en-US" sz="784" dirty="0"/>
          </a:p>
        </p:txBody>
      </p:sp>
      <p:sp>
        <p:nvSpPr>
          <p:cNvPr id="24" name="Text 20"/>
          <p:cNvSpPr/>
          <p:nvPr/>
        </p:nvSpPr>
        <p:spPr>
          <a:xfrm>
            <a:off x="5791349" y="2375297"/>
            <a:ext cx="12424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+6.1 additional recalls</a:t>
            </a:r>
            <a:endParaRPr lang="en-US" sz="784" dirty="0"/>
          </a:p>
        </p:txBody>
      </p:sp>
      <p:sp>
        <p:nvSpPr>
          <p:cNvPr id="25" name="Text 21"/>
          <p:cNvSpPr/>
          <p:nvPr/>
        </p:nvSpPr>
        <p:spPr>
          <a:xfrm>
            <a:off x="7033803" y="2375297"/>
            <a:ext cx="15319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per 1,000 women screened.</a:t>
            </a:r>
            <a:endParaRPr lang="en-US" sz="784" dirty="0"/>
          </a:p>
        </p:txBody>
      </p:sp>
      <p:sp>
        <p:nvSpPr>
          <p:cNvPr id="26" name="Text 22"/>
          <p:cNvSpPr/>
          <p:nvPr/>
        </p:nvSpPr>
        <p:spPr>
          <a:xfrm>
            <a:off x="428625" y="2848905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B2545"/>
                </a:solidFill>
              </a:rPr>
              <a:t>Interpretation of Results (Actual R Analysis)</a:t>
            </a:r>
            <a:endParaRPr lang="en-US" sz="784" dirty="0"/>
          </a:p>
        </p:txBody>
      </p:sp>
      <p:sp>
        <p:nvSpPr>
          <p:cNvPr id="27" name="Text 23"/>
          <p:cNvSpPr/>
          <p:nvPr/>
        </p:nvSpPr>
        <p:spPr>
          <a:xfrm>
            <a:off x="528638" y="3118582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→</a:t>
            </a:r>
            <a:endParaRPr lang="en-US" sz="734" dirty="0"/>
          </a:p>
        </p:txBody>
      </p:sp>
      <p:sp>
        <p:nvSpPr>
          <p:cNvPr id="28" name="Text 24"/>
          <p:cNvSpPr/>
          <p:nvPr/>
        </p:nvSpPr>
        <p:spPr>
          <a:xfrm>
            <a:off x="671513" y="3131083"/>
            <a:ext cx="119191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334E68"/>
                </a:solidFill>
              </a:rPr>
              <a:t>Modest Improvement:</a:t>
            </a:r>
            <a:endParaRPr lang="en-US" sz="734" dirty="0"/>
          </a:p>
        </p:txBody>
      </p:sp>
      <p:sp>
        <p:nvSpPr>
          <p:cNvPr id="29" name="Text 25"/>
          <p:cNvSpPr/>
          <p:nvPr/>
        </p:nvSpPr>
        <p:spPr>
          <a:xfrm>
            <a:off x="1862035" y="3177350"/>
            <a:ext cx="8011660" cy="161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AI increases detection by +7.7% (5.98‰ → 6.44‰), which is positive but significantly less than the +17.6% claimed in the original PRAIM study.</a:t>
            </a:r>
            <a:endParaRPr lang="en-US" sz="780" dirty="0"/>
          </a:p>
        </p:txBody>
      </p:sp>
      <p:sp>
        <p:nvSpPr>
          <p:cNvPr id="30" name="Text 26"/>
          <p:cNvSpPr/>
          <p:nvPr/>
        </p:nvSpPr>
        <p:spPr>
          <a:xfrm>
            <a:off x="528638" y="3518632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→</a:t>
            </a:r>
            <a:endParaRPr lang="en-US" sz="734" dirty="0"/>
          </a:p>
        </p:txBody>
      </p:sp>
      <p:sp>
        <p:nvSpPr>
          <p:cNvPr id="31" name="Text 27"/>
          <p:cNvSpPr/>
          <p:nvPr/>
        </p:nvSpPr>
        <p:spPr>
          <a:xfrm>
            <a:off x="671513" y="3531133"/>
            <a:ext cx="11905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334E68"/>
                </a:solidFill>
              </a:rPr>
              <a:t>Significant Side Effect:</a:t>
            </a:r>
            <a:endParaRPr lang="en-US" sz="734" dirty="0"/>
          </a:p>
        </p:txBody>
      </p:sp>
      <p:sp>
        <p:nvSpPr>
          <p:cNvPr id="32" name="Text 28"/>
          <p:cNvSpPr/>
          <p:nvPr/>
        </p:nvSpPr>
        <p:spPr>
          <a:xfrm>
            <a:off x="1862035" y="3531133"/>
            <a:ext cx="672556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The +15.9% increase in recall rates means more unnecessary follow-up exams, increased patient anxiety, and higher healthcare costs.</a:t>
            </a:r>
            <a:endParaRPr lang="en-US" sz="780" dirty="0"/>
          </a:p>
        </p:txBody>
      </p:sp>
      <p:sp>
        <p:nvSpPr>
          <p:cNvPr id="33" name="Text 29"/>
          <p:cNvSpPr/>
          <p:nvPr/>
        </p:nvSpPr>
        <p:spPr>
          <a:xfrm>
            <a:off x="528638" y="3747232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→</a:t>
            </a:r>
            <a:endParaRPr lang="en-US" sz="734" dirty="0"/>
          </a:p>
        </p:txBody>
      </p:sp>
      <p:sp>
        <p:nvSpPr>
          <p:cNvPr id="34" name="Text 30"/>
          <p:cNvSpPr/>
          <p:nvPr/>
        </p:nvSpPr>
        <p:spPr>
          <a:xfrm>
            <a:off x="671513" y="3759733"/>
            <a:ext cx="11589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334E68"/>
                </a:solidFill>
              </a:rPr>
              <a:t>Cost-Benefit Analysis:</a:t>
            </a:r>
            <a:endParaRPr lang="en-US" sz="734" dirty="0"/>
          </a:p>
        </p:txBody>
      </p:sp>
      <p:sp>
        <p:nvSpPr>
          <p:cNvPr id="35" name="Text 31"/>
          <p:cNvSpPr/>
          <p:nvPr/>
        </p:nvSpPr>
        <p:spPr>
          <a:xfrm>
            <a:off x="1830419" y="3759733"/>
            <a:ext cx="587291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For every additional cancer detected, there are ~13 additional recalls, raising questions about the net clinical benefit.</a:t>
            </a:r>
            <a:endParaRPr lang="en-US" sz="78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9048" y="4090132"/>
            <a:ext cx="805904" cy="11572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14" y="5671457"/>
            <a:ext cx="9144000" cy="53031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407193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B2545"/>
                </a:solidFill>
              </a:rPr>
              <a:t>Statistical Analysis: Model Results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755452"/>
            <a:ext cx="40719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B2545"/>
                </a:solidFill>
              </a:rPr>
              <a:t>Logistic Regression Results</a:t>
            </a:r>
            <a:endParaRPr lang="en-US" sz="885" dirty="0"/>
          </a:p>
        </p:txBody>
      </p:sp>
      <p:sp>
        <p:nvSpPr>
          <p:cNvPr id="5" name="Shape 2"/>
          <p:cNvSpPr/>
          <p:nvPr/>
        </p:nvSpPr>
        <p:spPr>
          <a:xfrm>
            <a:off x="428625" y="987623"/>
            <a:ext cx="4071938" cy="11465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987623"/>
            <a:ext cx="28575" cy="114657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4350" y="1073348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E68"/>
                </a:solidFill>
              </a:rPr>
              <a:t>Odds Ratio (AI-Assisted vs. Standard)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514350" y="1243013"/>
            <a:ext cx="39004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B2545"/>
                </a:solidFill>
              </a:rPr>
              <a:t>1.078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14350" y="1519833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E68"/>
                </a:solidFill>
              </a:rPr>
              <a:t>95% Confidence Interval: [1.001 - 1.161]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14350" y="1698427"/>
            <a:ext cx="3900488" cy="350044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4E68"/>
                </a:solidFill>
              </a:rPr>
              <a:t>Interpretation:</a:t>
            </a:r>
            <a:r>
              <a:rPr lang="en-US" sz="727" dirty="0">
                <a:solidFill>
                  <a:srgbClr val="334E68"/>
                </a:solidFill>
              </a:rPr>
              <a:t> AI-assisted screening increases the odds of cancer detection by 7.8%, and this difference is statistically significant (p &lt; 0.05).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2219920"/>
            <a:ext cx="40719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B2545"/>
                </a:solidFill>
              </a:rPr>
              <a:t>Model Fit Statistics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457200" y="2442052"/>
            <a:ext cx="4071938" cy="782910"/>
          </a:xfrm>
          <a:prstGeom prst="rect">
            <a:avLst/>
          </a:prstGeom>
          <a:solidFill>
            <a:srgbClr val="FF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8625" y="2452092"/>
            <a:ext cx="28575" cy="78291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28625" y="2452092"/>
            <a:ext cx="4071938" cy="78291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34E68"/>
                </a:solidFill>
              </a:rPr>
              <a:t>Null Deviance:</a:t>
            </a:r>
            <a:r>
              <a:rPr lang="en-US" sz="727" dirty="0">
                <a:solidFill>
                  <a:srgbClr val="334E68"/>
                </a:solidFill>
              </a:rPr>
              <a:t> 34,998 on 461,817 df
</a:t>
            </a:r>
            <a:r>
              <a:rPr lang="en-US" sz="683" b="1" dirty="0">
                <a:solidFill>
                  <a:srgbClr val="334E68"/>
                </a:solidFill>
              </a:rPr>
              <a:t>Residual Deviance:</a:t>
            </a:r>
            <a:r>
              <a:rPr lang="en-US" sz="727" dirty="0">
                <a:solidFill>
                  <a:srgbClr val="334E68"/>
                </a:solidFill>
              </a:rPr>
              <a:t> 34,994 on 461,816 df
</a:t>
            </a:r>
            <a:r>
              <a:rPr lang="en-US" sz="683" b="1" dirty="0">
                <a:solidFill>
                  <a:srgbClr val="334E68"/>
                </a:solidFill>
              </a:rPr>
              <a:t>AIC:</a:t>
            </a:r>
            <a:r>
              <a:rPr lang="en-US" sz="727" dirty="0">
                <a:solidFill>
                  <a:srgbClr val="334E68"/>
                </a:solidFill>
              </a:rPr>
              <a:t> 34,998
</a:t>
            </a:r>
            <a:r>
              <a:rPr lang="en-US" sz="683" b="1" dirty="0">
                <a:solidFill>
                  <a:srgbClr val="334E68"/>
                </a:solidFill>
              </a:rPr>
              <a:t>Fisher Scoring Iterations:</a:t>
            </a:r>
            <a:r>
              <a:rPr lang="en-US" sz="727" dirty="0">
                <a:solidFill>
                  <a:srgbClr val="334E68"/>
                </a:solidFill>
              </a:rPr>
              <a:t> 8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457200" y="3354188"/>
            <a:ext cx="4071938" cy="969764"/>
          </a:xfrm>
          <a:prstGeom prst="rect">
            <a:avLst/>
          </a:prstGeom>
          <a:solidFill>
            <a:srgbClr val="334E68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3426991"/>
            <a:ext cx="114300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5800" y="3406453"/>
            <a:ext cx="22302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Comparison with Original PRAIM Study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514350" y="3618979"/>
            <a:ext cx="18930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>
                    <a:alpha val="80000"/>
                  </a:srgbClr>
                </a:solidFill>
              </a:rPr>
              <a:t>Original Study</a:t>
            </a:r>
            <a:endParaRPr lang="en-US" sz="584" dirty="0"/>
          </a:p>
        </p:txBody>
      </p:sp>
      <p:sp>
        <p:nvSpPr>
          <p:cNvPr id="19" name="Text 15"/>
          <p:cNvSpPr/>
          <p:nvPr/>
        </p:nvSpPr>
        <p:spPr>
          <a:xfrm>
            <a:off x="514350" y="3777928"/>
            <a:ext cx="18930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+17.6%</a:t>
            </a:r>
            <a:endParaRPr lang="en-US" sz="987" dirty="0"/>
          </a:p>
        </p:txBody>
      </p:sp>
      <p:sp>
        <p:nvSpPr>
          <p:cNvPr id="20" name="Text 16"/>
          <p:cNvSpPr/>
          <p:nvPr/>
        </p:nvSpPr>
        <p:spPr>
          <a:xfrm>
            <a:off x="2521744" y="3618979"/>
            <a:ext cx="18930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>
                    <a:alpha val="80000"/>
                  </a:srgbClr>
                </a:solidFill>
              </a:rPr>
              <a:t>Our Analysis</a:t>
            </a:r>
            <a:endParaRPr lang="en-US" sz="584" dirty="0"/>
          </a:p>
        </p:txBody>
      </p:sp>
      <p:sp>
        <p:nvSpPr>
          <p:cNvPr id="21" name="Text 17"/>
          <p:cNvSpPr/>
          <p:nvPr/>
        </p:nvSpPr>
        <p:spPr>
          <a:xfrm>
            <a:off x="2521744" y="3777928"/>
            <a:ext cx="18930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+7.7%</a:t>
            </a:r>
            <a:endParaRPr lang="en-US" sz="987" dirty="0"/>
          </a:p>
        </p:txBody>
      </p:sp>
      <p:sp>
        <p:nvSpPr>
          <p:cNvPr id="22" name="Text 18"/>
          <p:cNvSpPr/>
          <p:nvPr/>
        </p:nvSpPr>
        <p:spPr>
          <a:xfrm>
            <a:off x="1744359" y="4029745"/>
            <a:ext cx="14404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3946"/>
                </a:solidFill>
              </a:rPr>
              <a:t>Gap: 10% Discrepancy</a:t>
            </a:r>
            <a:endParaRPr lang="en-US" sz="885" dirty="0"/>
          </a:p>
        </p:txBody>
      </p:sp>
      <p:sp>
        <p:nvSpPr>
          <p:cNvPr id="23" name="Text 19"/>
          <p:cNvSpPr/>
          <p:nvPr/>
        </p:nvSpPr>
        <p:spPr>
          <a:xfrm>
            <a:off x="428625" y="4376217"/>
            <a:ext cx="4071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B2545"/>
                </a:solidFill>
              </a:rPr>
              <a:t>Possible Explanations</a:t>
            </a:r>
            <a:endParaRPr lang="en-US" sz="784" dirty="0"/>
          </a:p>
        </p:txBody>
      </p:sp>
      <p:sp>
        <p:nvSpPr>
          <p:cNvPr id="24" name="Text 20"/>
          <p:cNvSpPr/>
          <p:nvPr/>
        </p:nvSpPr>
        <p:spPr>
          <a:xfrm>
            <a:off x="528638" y="4588743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25" name="Text 21"/>
          <p:cNvSpPr/>
          <p:nvPr/>
        </p:nvSpPr>
        <p:spPr>
          <a:xfrm>
            <a:off x="671513" y="4595887"/>
            <a:ext cx="25204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Different statistical methods and model specifications</a:t>
            </a:r>
            <a:endParaRPr lang="en-US" sz="727" dirty="0"/>
          </a:p>
        </p:txBody>
      </p:sp>
      <p:sp>
        <p:nvSpPr>
          <p:cNvPr id="26" name="Text 22"/>
          <p:cNvSpPr/>
          <p:nvPr/>
        </p:nvSpPr>
        <p:spPr>
          <a:xfrm>
            <a:off x="528638" y="476733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27" name="Text 23"/>
          <p:cNvSpPr/>
          <p:nvPr/>
        </p:nvSpPr>
        <p:spPr>
          <a:xfrm>
            <a:off x="671513" y="4774481"/>
            <a:ext cx="20189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Correction for selection bias in our analysis</a:t>
            </a:r>
            <a:endParaRPr lang="en-US" sz="727" dirty="0"/>
          </a:p>
        </p:txBody>
      </p:sp>
      <p:sp>
        <p:nvSpPr>
          <p:cNvPr id="28" name="Text 24"/>
          <p:cNvSpPr/>
          <p:nvPr/>
        </p:nvSpPr>
        <p:spPr>
          <a:xfrm>
            <a:off x="528638" y="4945931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29" name="Text 25"/>
          <p:cNvSpPr/>
          <p:nvPr/>
        </p:nvSpPr>
        <p:spPr>
          <a:xfrm>
            <a:off x="671513" y="4953074"/>
            <a:ext cx="23598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Methodological differences in outcome definitions</a:t>
            </a:r>
            <a:endParaRPr lang="en-US" sz="727" dirty="0"/>
          </a:p>
        </p:txBody>
      </p:sp>
      <p:sp>
        <p:nvSpPr>
          <p:cNvPr id="30" name="Text 26"/>
          <p:cNvSpPr/>
          <p:nvPr/>
        </p:nvSpPr>
        <p:spPr>
          <a:xfrm>
            <a:off x="528638" y="5124524"/>
            <a:ext cx="6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683" dirty="0"/>
          </a:p>
        </p:txBody>
      </p:sp>
      <p:sp>
        <p:nvSpPr>
          <p:cNvPr id="31" name="Text 27"/>
          <p:cNvSpPr/>
          <p:nvPr/>
        </p:nvSpPr>
        <p:spPr>
          <a:xfrm>
            <a:off x="671513" y="5131668"/>
            <a:ext cx="65" cy="1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27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500063"/>
            <a:ext cx="4071938" cy="2291748"/>
          </a:xfrm>
          <a:prstGeom prst="rect">
            <a:avLst/>
          </a:prstGeom>
        </p:spPr>
      </p:pic>
      <p:sp>
        <p:nvSpPr>
          <p:cNvPr id="33" name="Shape 2">
            <a:extLst>
              <a:ext uri="{FF2B5EF4-FFF2-40B4-BE49-F238E27FC236}">
                <a16:creationId xmlns:a16="http://schemas.microsoft.com/office/drawing/2014/main" id="{A14F7CA2-4C16-431F-9176-AA2654AE6C2A}"/>
              </a:ext>
            </a:extLst>
          </p:cNvPr>
          <p:cNvSpPr/>
          <p:nvPr/>
        </p:nvSpPr>
        <p:spPr>
          <a:xfrm>
            <a:off x="4479104" y="3481680"/>
            <a:ext cx="4071938" cy="11465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888"/>
            <a:ext cx="9144000" cy="53149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19" y="351830"/>
            <a:ext cx="257175" cy="2571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1525" y="357188"/>
            <a:ext cx="184116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B2545"/>
                </a:solidFill>
              </a:rPr>
              <a:t>Critical Findings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428625" y="741164"/>
            <a:ext cx="4071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E63946"/>
                </a:solidFill>
              </a:rPr>
              <a:t>1. Gap vs Original Study</a:t>
            </a:r>
            <a:endParaRPr lang="en-US" sz="683" dirty="0"/>
          </a:p>
        </p:txBody>
      </p:sp>
      <p:sp>
        <p:nvSpPr>
          <p:cNvPr id="6" name="Text 2"/>
          <p:cNvSpPr/>
          <p:nvPr/>
        </p:nvSpPr>
        <p:spPr>
          <a:xfrm>
            <a:off x="428625" y="962620"/>
            <a:ext cx="40719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B2545"/>
                </a:solidFill>
              </a:rPr>
              <a:t>Benefits Are Lower Than Claimed</a:t>
            </a:r>
            <a:endParaRPr lang="en-US" sz="885" dirty="0"/>
          </a:p>
        </p:txBody>
      </p:sp>
      <p:sp>
        <p:nvSpPr>
          <p:cNvPr id="7" name="Shape 3"/>
          <p:cNvSpPr/>
          <p:nvPr/>
        </p:nvSpPr>
        <p:spPr>
          <a:xfrm>
            <a:off x="428625" y="1280517"/>
            <a:ext cx="4071938" cy="4964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428625" y="1280517"/>
            <a:ext cx="28575" cy="496491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00063" y="1351955"/>
            <a:ext cx="19288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E68"/>
                </a:solidFill>
              </a:rPr>
              <a:t>Original PRAIM</a:t>
            </a:r>
            <a:endParaRPr lang="en-US" sz="584" dirty="0"/>
          </a:p>
        </p:txBody>
      </p:sp>
      <p:sp>
        <p:nvSpPr>
          <p:cNvPr id="10" name="Text 6"/>
          <p:cNvSpPr/>
          <p:nvPr/>
        </p:nvSpPr>
        <p:spPr>
          <a:xfrm>
            <a:off x="500063" y="1510903"/>
            <a:ext cx="19288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E68"/>
                </a:solidFill>
              </a:rPr>
              <a:t>+17.6%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2500313" y="1351955"/>
            <a:ext cx="19288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E68"/>
                </a:solidFill>
              </a:rPr>
              <a:t>Our Reproduction</a:t>
            </a:r>
            <a:endParaRPr lang="en-US" sz="584" dirty="0"/>
          </a:p>
        </p:txBody>
      </p:sp>
      <p:sp>
        <p:nvSpPr>
          <p:cNvPr id="12" name="Text 8"/>
          <p:cNvSpPr/>
          <p:nvPr/>
        </p:nvSpPr>
        <p:spPr>
          <a:xfrm>
            <a:off x="2500313" y="1510903"/>
            <a:ext cx="19288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3946"/>
                </a:solidFill>
              </a:rPr>
              <a:t>+7.7%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428625" y="1862733"/>
            <a:ext cx="4071938" cy="342900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334E68"/>
                </a:solidFill>
              </a:rPr>
              <a:t>Explanation:</a:t>
            </a:r>
            <a:r>
              <a:rPr lang="en-US" sz="780" dirty="0">
                <a:solidFill>
                  <a:srgbClr val="334E68"/>
                </a:solidFill>
              </a:rPr>
              <a:t> Different statistical methods and correction for selection bias in the data.</a:t>
            </a:r>
            <a:endParaRPr lang="en-US" sz="734" dirty="0"/>
          </a:p>
        </p:txBody>
      </p:sp>
      <p:sp>
        <p:nvSpPr>
          <p:cNvPr id="14" name="Text 10"/>
          <p:cNvSpPr/>
          <p:nvPr/>
        </p:nvSpPr>
        <p:spPr>
          <a:xfrm>
            <a:off x="428625" y="2277070"/>
            <a:ext cx="4071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E63946"/>
                </a:solidFill>
              </a:rPr>
              <a:t>2. Ethical Concern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428625" y="2498527"/>
            <a:ext cx="40719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B2545"/>
                </a:solidFill>
              </a:rPr>
              <a:t>Conflict of Interest</a:t>
            </a:r>
            <a:endParaRPr lang="en-US" sz="885" dirty="0"/>
          </a:p>
        </p:txBody>
      </p:sp>
      <p:sp>
        <p:nvSpPr>
          <p:cNvPr id="16" name="Shape 12"/>
          <p:cNvSpPr/>
          <p:nvPr/>
        </p:nvSpPr>
        <p:spPr>
          <a:xfrm>
            <a:off x="428625" y="2816423"/>
            <a:ext cx="4071938" cy="773311"/>
          </a:xfrm>
          <a:prstGeom prst="rect">
            <a:avLst/>
          </a:prstGeom>
          <a:solidFill>
            <a:srgbClr val="FFF3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28625" y="2816423"/>
            <a:ext cx="28575" cy="773311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00063" y="2887861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⚠</a:t>
            </a:r>
            <a:endParaRPr lang="en-US" sz="734" dirty="0"/>
          </a:p>
        </p:txBody>
      </p:sp>
      <p:sp>
        <p:nvSpPr>
          <p:cNvPr id="19" name="Text 15"/>
          <p:cNvSpPr/>
          <p:nvPr/>
        </p:nvSpPr>
        <p:spPr>
          <a:xfrm>
            <a:off x="642938" y="2900363"/>
            <a:ext cx="296203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Original PRAIM study was funded by Vara (the AI company)</a:t>
            </a:r>
            <a:endParaRPr lang="en-US" sz="780" dirty="0"/>
          </a:p>
        </p:txBody>
      </p:sp>
      <p:sp>
        <p:nvSpPr>
          <p:cNvPr id="20" name="Text 16"/>
          <p:cNvSpPr/>
          <p:nvPr/>
        </p:nvSpPr>
        <p:spPr>
          <a:xfrm>
            <a:off x="500063" y="3116461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⚠</a:t>
            </a:r>
            <a:endParaRPr lang="en-US" sz="734" dirty="0"/>
          </a:p>
        </p:txBody>
      </p:sp>
      <p:sp>
        <p:nvSpPr>
          <p:cNvPr id="21" name="Text 17"/>
          <p:cNvSpPr/>
          <p:nvPr/>
        </p:nvSpPr>
        <p:spPr>
          <a:xfrm>
            <a:off x="642938" y="3128963"/>
            <a:ext cx="237962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Risk of publication bias and favorable reporting</a:t>
            </a:r>
            <a:endParaRPr lang="en-US" sz="780" dirty="0"/>
          </a:p>
        </p:txBody>
      </p:sp>
      <p:sp>
        <p:nvSpPr>
          <p:cNvPr id="22" name="Text 18"/>
          <p:cNvSpPr/>
          <p:nvPr/>
        </p:nvSpPr>
        <p:spPr>
          <a:xfrm>
            <a:off x="500063" y="3373636"/>
            <a:ext cx="39290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i="1" dirty="0">
                <a:solidFill>
                  <a:srgbClr val="E63946"/>
                </a:solidFill>
              </a:rPr>
              <a:t>→ Can we trust industry-funded AI studies?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428625" y="3661172"/>
            <a:ext cx="4071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E63946"/>
                </a:solidFill>
              </a:rPr>
              <a:t>3. Major Limitation</a:t>
            </a:r>
            <a:endParaRPr lang="en-US" sz="683" dirty="0"/>
          </a:p>
        </p:txBody>
      </p:sp>
      <p:sp>
        <p:nvSpPr>
          <p:cNvPr id="24" name="Text 20"/>
          <p:cNvSpPr/>
          <p:nvPr/>
        </p:nvSpPr>
        <p:spPr>
          <a:xfrm>
            <a:off x="428625" y="3882628"/>
            <a:ext cx="40719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B2545"/>
                </a:solidFill>
              </a:rPr>
              <a:t>Patient Impact Analysis</a:t>
            </a:r>
            <a:endParaRPr lang="en-US" sz="885" dirty="0"/>
          </a:p>
        </p:txBody>
      </p:sp>
      <p:sp>
        <p:nvSpPr>
          <p:cNvPr id="25" name="Text 21"/>
          <p:cNvSpPr/>
          <p:nvPr/>
        </p:nvSpPr>
        <p:spPr>
          <a:xfrm>
            <a:off x="528638" y="4155877"/>
            <a:ext cx="211901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The +15.9% increase in recall rates means:</a:t>
            </a:r>
            <a:endParaRPr lang="en-US" sz="780" dirty="0"/>
          </a:p>
        </p:txBody>
      </p:sp>
      <p:sp>
        <p:nvSpPr>
          <p:cNvPr id="26" name="Text 22"/>
          <p:cNvSpPr/>
          <p:nvPr/>
        </p:nvSpPr>
        <p:spPr>
          <a:xfrm>
            <a:off x="528638" y="4371975"/>
            <a:ext cx="402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E63946"/>
                </a:solidFill>
              </a:rPr>
              <a:t>•</a:t>
            </a:r>
            <a:endParaRPr lang="en-US" sz="780" dirty="0"/>
          </a:p>
        </p:txBody>
      </p:sp>
      <p:sp>
        <p:nvSpPr>
          <p:cNvPr id="27" name="Text 23"/>
          <p:cNvSpPr/>
          <p:nvPr/>
        </p:nvSpPr>
        <p:spPr>
          <a:xfrm>
            <a:off x="671513" y="4384477"/>
            <a:ext cx="181074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More anxiety and stress for patients</a:t>
            </a:r>
            <a:endParaRPr lang="en-US" sz="780" dirty="0"/>
          </a:p>
        </p:txBody>
      </p:sp>
      <p:sp>
        <p:nvSpPr>
          <p:cNvPr id="28" name="Text 24"/>
          <p:cNvSpPr/>
          <p:nvPr/>
        </p:nvSpPr>
        <p:spPr>
          <a:xfrm>
            <a:off x="528638" y="4586288"/>
            <a:ext cx="402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E63946"/>
                </a:solidFill>
              </a:rPr>
              <a:t>•</a:t>
            </a:r>
            <a:endParaRPr lang="en-US" sz="780" dirty="0"/>
          </a:p>
        </p:txBody>
      </p:sp>
      <p:sp>
        <p:nvSpPr>
          <p:cNvPr id="29" name="Text 25"/>
          <p:cNvSpPr/>
          <p:nvPr/>
        </p:nvSpPr>
        <p:spPr>
          <a:xfrm>
            <a:off x="671513" y="4598789"/>
            <a:ext cx="134107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Increased healthcare costs</a:t>
            </a:r>
            <a:endParaRPr lang="en-US" sz="780" dirty="0"/>
          </a:p>
        </p:txBody>
      </p:sp>
      <p:sp>
        <p:nvSpPr>
          <p:cNvPr id="30" name="Text 26"/>
          <p:cNvSpPr/>
          <p:nvPr/>
        </p:nvSpPr>
        <p:spPr>
          <a:xfrm>
            <a:off x="528638" y="4800600"/>
            <a:ext cx="402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E63946"/>
                </a:solidFill>
              </a:rPr>
              <a:t>•</a:t>
            </a:r>
            <a:endParaRPr lang="en-US" sz="780" dirty="0"/>
          </a:p>
        </p:txBody>
      </p:sp>
      <p:sp>
        <p:nvSpPr>
          <p:cNvPr id="31" name="Text 27"/>
          <p:cNvSpPr/>
          <p:nvPr/>
        </p:nvSpPr>
        <p:spPr>
          <a:xfrm>
            <a:off x="671513" y="4813102"/>
            <a:ext cx="193707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Psychological burden of false positives</a:t>
            </a:r>
            <a:endParaRPr lang="en-US" sz="780" dirty="0"/>
          </a:p>
        </p:txBody>
      </p:sp>
      <p:sp>
        <p:nvSpPr>
          <p:cNvPr id="32" name="Text 28"/>
          <p:cNvSpPr/>
          <p:nvPr/>
        </p:nvSpPr>
        <p:spPr>
          <a:xfrm>
            <a:off x="528638" y="5156002"/>
            <a:ext cx="99794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334E68"/>
                </a:solidFill>
              </a:rPr>
              <a:t>Cost-Benefit Ratio:</a:t>
            </a:r>
            <a:endParaRPr lang="en-US" sz="734" dirty="0"/>
          </a:p>
        </p:txBody>
      </p:sp>
      <p:sp>
        <p:nvSpPr>
          <p:cNvPr id="33" name="Text 29"/>
          <p:cNvSpPr/>
          <p:nvPr/>
        </p:nvSpPr>
        <p:spPr>
          <a:xfrm>
            <a:off x="1526586" y="5156002"/>
            <a:ext cx="21507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4E68"/>
                </a:solidFill>
              </a:rPr>
              <a:t>13 additional recalls per 1 detected cancer</a:t>
            </a:r>
            <a:endParaRPr lang="en-US" sz="780" dirty="0"/>
          </a:p>
        </p:txBody>
      </p:sp>
      <p:pic>
        <p:nvPicPr>
          <p:cNvPr id="34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92789" y="500063"/>
            <a:ext cx="3058985" cy="22917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453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B2545"/>
                </a:solidFill>
              </a:rPr>
              <a:t>Clinical Implications: AI as Assistant, Not Replacement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884039"/>
            <a:ext cx="2666991" cy="1339453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884039"/>
            <a:ext cx="28575" cy="1339453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806" y="1071563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1482328"/>
            <a:ext cx="23812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B2545"/>
                </a:solidFill>
              </a:rPr>
              <a:t>YES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571500" y="1780580"/>
            <a:ext cx="23812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AI improves cancer detection by </a:t>
            </a:r>
            <a:r>
              <a:rPr lang="en-US" sz="683" b="1" dirty="0">
                <a:solidFill>
                  <a:srgbClr val="334E68"/>
                </a:solidFill>
              </a:rPr>
              <a:t>+7.7%</a:t>
            </a:r>
            <a:r>
              <a:rPr lang="en-US" sz="727" dirty="0">
                <a:solidFill>
                  <a:srgbClr val="334E68"/>
                </a:solidFill>
              </a:rPr>
              <a:t> (5.98 to 6.44 per 1,000)</a:t>
            </a:r>
            <a:endParaRPr lang="en-US" sz="727" dirty="0"/>
          </a:p>
        </p:txBody>
      </p:sp>
      <p:sp>
        <p:nvSpPr>
          <p:cNvPr id="9" name="Shape 5"/>
          <p:cNvSpPr/>
          <p:nvPr/>
        </p:nvSpPr>
        <p:spPr>
          <a:xfrm>
            <a:off x="3238491" y="884039"/>
            <a:ext cx="2666991" cy="1339453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238491" y="884039"/>
            <a:ext cx="28575" cy="1339453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672" y="1071563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81366" y="1482328"/>
            <a:ext cx="23812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B2545"/>
                </a:solidFill>
              </a:rPr>
              <a:t>BUT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3381366" y="1780580"/>
            <a:ext cx="23812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Benefits are </a:t>
            </a:r>
            <a:r>
              <a:rPr lang="en-US" sz="683" b="1" dirty="0">
                <a:solidFill>
                  <a:srgbClr val="334E68"/>
                </a:solidFill>
              </a:rPr>
              <a:t>lower than claimed</a:t>
            </a:r>
            <a:r>
              <a:rPr lang="en-US" sz="727" dirty="0">
                <a:solidFill>
                  <a:srgbClr val="334E68"/>
                </a:solidFill>
              </a:rPr>
              <a:t> (+17.6% vs +7.7%)</a:t>
            </a:r>
            <a:endParaRPr lang="en-US" sz="727" dirty="0"/>
          </a:p>
        </p:txBody>
      </p:sp>
      <p:sp>
        <p:nvSpPr>
          <p:cNvPr id="14" name="Shape 9"/>
          <p:cNvSpPr/>
          <p:nvPr/>
        </p:nvSpPr>
        <p:spPr>
          <a:xfrm>
            <a:off x="6048356" y="884039"/>
            <a:ext cx="2667019" cy="1339453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048356" y="884039"/>
            <a:ext cx="28575" cy="1339453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7566" y="1071563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1231" y="1482328"/>
            <a:ext cx="23812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B2545"/>
                </a:solidFill>
              </a:rPr>
              <a:t>WARNING</a:t>
            </a:r>
            <a:endParaRPr lang="en-US" sz="784" dirty="0"/>
          </a:p>
        </p:txBody>
      </p:sp>
      <p:sp>
        <p:nvSpPr>
          <p:cNvPr id="18" name="Text 12"/>
          <p:cNvSpPr/>
          <p:nvPr/>
        </p:nvSpPr>
        <p:spPr>
          <a:xfrm>
            <a:off x="6191231" y="1780580"/>
            <a:ext cx="23812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4E68"/>
                </a:solidFill>
              </a:rPr>
              <a:t>+15.9% increase</a:t>
            </a:r>
            <a:r>
              <a:rPr lang="en-US" sz="727" dirty="0">
                <a:solidFill>
                  <a:srgbClr val="334E68"/>
                </a:solidFill>
              </a:rPr>
              <a:t> in recalls = more anxiety and costs</a:t>
            </a:r>
            <a:endParaRPr lang="en-US" sz="683" dirty="0"/>
          </a:p>
        </p:txBody>
      </p:sp>
      <p:sp>
        <p:nvSpPr>
          <p:cNvPr id="19" name="Text 13"/>
          <p:cNvSpPr/>
          <p:nvPr/>
        </p:nvSpPr>
        <p:spPr>
          <a:xfrm>
            <a:off x="428625" y="2437805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B2545"/>
                </a:solidFill>
              </a:rPr>
              <a:t>Recommendations for Healthcare Professionals</a:t>
            </a:r>
            <a:endParaRPr lang="en-US" sz="885" dirty="0"/>
          </a:p>
        </p:txBody>
      </p:sp>
      <p:sp>
        <p:nvSpPr>
          <p:cNvPr id="20" name="Shape 14"/>
          <p:cNvSpPr/>
          <p:nvPr/>
        </p:nvSpPr>
        <p:spPr>
          <a:xfrm>
            <a:off x="428625" y="2727127"/>
            <a:ext cx="2666991" cy="15484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28625" y="2727127"/>
            <a:ext cx="2666991" cy="28575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542925" y="2841427"/>
            <a:ext cx="24383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E63946"/>
                </a:solidFill>
              </a:rPr>
              <a:t>1. Demand Independence</a:t>
            </a:r>
            <a:endParaRPr lang="en-US" sz="683" dirty="0"/>
          </a:p>
        </p:txBody>
      </p:sp>
      <p:sp>
        <p:nvSpPr>
          <p:cNvPr id="23" name="Text 17"/>
          <p:cNvSpPr/>
          <p:nvPr/>
        </p:nvSpPr>
        <p:spPr>
          <a:xfrm>
            <a:off x="542925" y="3062883"/>
            <a:ext cx="24383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B2545"/>
                </a:solidFill>
              </a:rPr>
              <a:t>Require Independent Evaluations</a:t>
            </a:r>
            <a:endParaRPr lang="en-US" sz="784" dirty="0"/>
          </a:p>
        </p:txBody>
      </p:sp>
      <p:sp>
        <p:nvSpPr>
          <p:cNvPr id="24" name="Text 18"/>
          <p:cNvSpPr/>
          <p:nvPr/>
        </p:nvSpPr>
        <p:spPr>
          <a:xfrm>
            <a:off x="542925" y="3361134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25" name="Text 19"/>
          <p:cNvSpPr/>
          <p:nvPr/>
        </p:nvSpPr>
        <p:spPr>
          <a:xfrm>
            <a:off x="685800" y="3368278"/>
            <a:ext cx="16854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Peer-reviewed, independent studies</a:t>
            </a:r>
            <a:endParaRPr lang="en-US" sz="727" dirty="0"/>
          </a:p>
        </p:txBody>
      </p:sp>
      <p:sp>
        <p:nvSpPr>
          <p:cNvPr id="26" name="Text 20"/>
          <p:cNvSpPr/>
          <p:nvPr/>
        </p:nvSpPr>
        <p:spPr>
          <a:xfrm>
            <a:off x="542925" y="3554016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27" name="Text 21"/>
          <p:cNvSpPr/>
          <p:nvPr/>
        </p:nvSpPr>
        <p:spPr>
          <a:xfrm>
            <a:off x="685800" y="3561159"/>
            <a:ext cx="169401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Avoid industry-funded research bias</a:t>
            </a:r>
            <a:endParaRPr lang="en-US" sz="727" dirty="0"/>
          </a:p>
        </p:txBody>
      </p:sp>
      <p:sp>
        <p:nvSpPr>
          <p:cNvPr id="28" name="Text 22"/>
          <p:cNvSpPr/>
          <p:nvPr/>
        </p:nvSpPr>
        <p:spPr>
          <a:xfrm>
            <a:off x="542925" y="374689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29" name="Text 23"/>
          <p:cNvSpPr/>
          <p:nvPr/>
        </p:nvSpPr>
        <p:spPr>
          <a:xfrm>
            <a:off x="685800" y="3754041"/>
            <a:ext cx="18961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Implement rigorous validation protocols</a:t>
            </a:r>
            <a:endParaRPr lang="en-US" sz="727" dirty="0"/>
          </a:p>
        </p:txBody>
      </p:sp>
      <p:sp>
        <p:nvSpPr>
          <p:cNvPr id="30" name="Text 24"/>
          <p:cNvSpPr/>
          <p:nvPr/>
        </p:nvSpPr>
        <p:spPr>
          <a:xfrm>
            <a:off x="542925" y="3939778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31" name="Text 25"/>
          <p:cNvSpPr/>
          <p:nvPr/>
        </p:nvSpPr>
        <p:spPr>
          <a:xfrm>
            <a:off x="685800" y="3946922"/>
            <a:ext cx="16193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Replicate findings before adoption</a:t>
            </a:r>
            <a:endParaRPr lang="en-US" sz="727" dirty="0"/>
          </a:p>
        </p:txBody>
      </p:sp>
      <p:sp>
        <p:nvSpPr>
          <p:cNvPr id="32" name="Shape 26"/>
          <p:cNvSpPr/>
          <p:nvPr/>
        </p:nvSpPr>
        <p:spPr>
          <a:xfrm>
            <a:off x="3238491" y="2727127"/>
            <a:ext cx="2666991" cy="15484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3238491" y="2727127"/>
            <a:ext cx="2666991" cy="28575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3352791" y="2841427"/>
            <a:ext cx="24383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E63946"/>
                </a:solidFill>
              </a:rPr>
              <a:t>2. Adopt Critically</a:t>
            </a:r>
            <a:endParaRPr lang="en-US" sz="683" dirty="0"/>
          </a:p>
        </p:txBody>
      </p:sp>
      <p:sp>
        <p:nvSpPr>
          <p:cNvPr id="35" name="Text 29"/>
          <p:cNvSpPr/>
          <p:nvPr/>
        </p:nvSpPr>
        <p:spPr>
          <a:xfrm>
            <a:off x="3352791" y="3062883"/>
            <a:ext cx="24383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B2545"/>
                </a:solidFill>
              </a:rPr>
              <a:t>Use AI as Decision Support</a:t>
            </a:r>
            <a:endParaRPr lang="en-US" sz="784" dirty="0"/>
          </a:p>
        </p:txBody>
      </p:sp>
      <p:sp>
        <p:nvSpPr>
          <p:cNvPr id="36" name="Text 30"/>
          <p:cNvSpPr/>
          <p:nvPr/>
        </p:nvSpPr>
        <p:spPr>
          <a:xfrm>
            <a:off x="3352791" y="3361134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37" name="Text 31"/>
          <p:cNvSpPr/>
          <p:nvPr/>
        </p:nvSpPr>
        <p:spPr>
          <a:xfrm>
            <a:off x="3495666" y="3368278"/>
            <a:ext cx="16369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AI assists, not replaces radiologists</a:t>
            </a:r>
            <a:endParaRPr lang="en-US" sz="727" dirty="0"/>
          </a:p>
        </p:txBody>
      </p:sp>
      <p:sp>
        <p:nvSpPr>
          <p:cNvPr id="38" name="Text 32"/>
          <p:cNvSpPr/>
          <p:nvPr/>
        </p:nvSpPr>
        <p:spPr>
          <a:xfrm>
            <a:off x="3352791" y="3554016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39" name="Text 33"/>
          <p:cNvSpPr/>
          <p:nvPr/>
        </p:nvSpPr>
        <p:spPr>
          <a:xfrm>
            <a:off x="3495666" y="3561159"/>
            <a:ext cx="12273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Maintain expert judgment</a:t>
            </a:r>
            <a:endParaRPr lang="en-US" sz="727" dirty="0"/>
          </a:p>
        </p:txBody>
      </p:sp>
      <p:sp>
        <p:nvSpPr>
          <p:cNvPr id="40" name="Text 34"/>
          <p:cNvSpPr/>
          <p:nvPr/>
        </p:nvSpPr>
        <p:spPr>
          <a:xfrm>
            <a:off x="3352791" y="374689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41" name="Text 35"/>
          <p:cNvSpPr/>
          <p:nvPr/>
        </p:nvSpPr>
        <p:spPr>
          <a:xfrm>
            <a:off x="3495666" y="3754041"/>
            <a:ext cx="16422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Monitor unintended consequences</a:t>
            </a:r>
            <a:endParaRPr lang="en-US" sz="727" dirty="0"/>
          </a:p>
        </p:txBody>
      </p:sp>
      <p:sp>
        <p:nvSpPr>
          <p:cNvPr id="42" name="Text 36"/>
          <p:cNvSpPr/>
          <p:nvPr/>
        </p:nvSpPr>
        <p:spPr>
          <a:xfrm>
            <a:off x="3352791" y="3939778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43" name="Text 37"/>
          <p:cNvSpPr/>
          <p:nvPr/>
        </p:nvSpPr>
        <p:spPr>
          <a:xfrm>
            <a:off x="3495666" y="3946922"/>
            <a:ext cx="18427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Track recall rates and patient outcomes</a:t>
            </a:r>
            <a:endParaRPr lang="en-US" sz="727" dirty="0"/>
          </a:p>
        </p:txBody>
      </p:sp>
      <p:sp>
        <p:nvSpPr>
          <p:cNvPr id="44" name="Shape 38"/>
          <p:cNvSpPr/>
          <p:nvPr/>
        </p:nvSpPr>
        <p:spPr>
          <a:xfrm>
            <a:off x="6048356" y="2727127"/>
            <a:ext cx="2667019" cy="15484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6048356" y="2727127"/>
            <a:ext cx="2667019" cy="28575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6162656" y="2841427"/>
            <a:ext cx="24384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E63946"/>
                </a:solidFill>
              </a:rPr>
              <a:t>3. Patient-Centered</a:t>
            </a:r>
            <a:endParaRPr lang="en-US" sz="683" dirty="0"/>
          </a:p>
        </p:txBody>
      </p:sp>
      <p:sp>
        <p:nvSpPr>
          <p:cNvPr id="47" name="Text 41"/>
          <p:cNvSpPr/>
          <p:nvPr/>
        </p:nvSpPr>
        <p:spPr>
          <a:xfrm>
            <a:off x="6162656" y="3062883"/>
            <a:ext cx="24384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B2545"/>
                </a:solidFill>
              </a:rPr>
              <a:t>Prioritize Patient Welfare</a:t>
            </a:r>
            <a:endParaRPr lang="en-US" sz="784" dirty="0"/>
          </a:p>
        </p:txBody>
      </p:sp>
      <p:sp>
        <p:nvSpPr>
          <p:cNvPr id="48" name="Text 42"/>
          <p:cNvSpPr/>
          <p:nvPr/>
        </p:nvSpPr>
        <p:spPr>
          <a:xfrm>
            <a:off x="6162656" y="3361134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49" name="Text 43"/>
          <p:cNvSpPr/>
          <p:nvPr/>
        </p:nvSpPr>
        <p:spPr>
          <a:xfrm>
            <a:off x="6305531" y="3368278"/>
            <a:ext cx="12991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Consider full patient impact</a:t>
            </a:r>
            <a:endParaRPr lang="en-US" sz="727" dirty="0"/>
          </a:p>
        </p:txBody>
      </p:sp>
      <p:sp>
        <p:nvSpPr>
          <p:cNvPr id="50" name="Text 44"/>
          <p:cNvSpPr/>
          <p:nvPr/>
        </p:nvSpPr>
        <p:spPr>
          <a:xfrm>
            <a:off x="6162656" y="3554016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51" name="Text 45"/>
          <p:cNvSpPr/>
          <p:nvPr/>
        </p:nvSpPr>
        <p:spPr>
          <a:xfrm>
            <a:off x="6305531" y="3561159"/>
            <a:ext cx="11826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Ensure informed consent</a:t>
            </a:r>
            <a:endParaRPr lang="en-US" sz="727" dirty="0"/>
          </a:p>
        </p:txBody>
      </p:sp>
      <p:sp>
        <p:nvSpPr>
          <p:cNvPr id="52" name="Text 46"/>
          <p:cNvSpPr/>
          <p:nvPr/>
        </p:nvSpPr>
        <p:spPr>
          <a:xfrm>
            <a:off x="6162656" y="374689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53" name="Text 47"/>
          <p:cNvSpPr/>
          <p:nvPr/>
        </p:nvSpPr>
        <p:spPr>
          <a:xfrm>
            <a:off x="6305531" y="3754041"/>
            <a:ext cx="16480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Balance detection vs false positives</a:t>
            </a:r>
            <a:endParaRPr lang="en-US" sz="727" dirty="0"/>
          </a:p>
        </p:txBody>
      </p:sp>
      <p:sp>
        <p:nvSpPr>
          <p:cNvPr id="54" name="Text 48"/>
          <p:cNvSpPr/>
          <p:nvPr/>
        </p:nvSpPr>
        <p:spPr>
          <a:xfrm>
            <a:off x="6162656" y="3939778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55" name="Text 49"/>
          <p:cNvSpPr/>
          <p:nvPr/>
        </p:nvSpPr>
        <p:spPr>
          <a:xfrm>
            <a:off x="6305531" y="3946922"/>
            <a:ext cx="197865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34E68"/>
                </a:solidFill>
              </a:rPr>
              <a:t>Address anxiety and psychological burden</a:t>
            </a:r>
            <a:endParaRPr lang="en-US" sz="727" dirty="0"/>
          </a:p>
        </p:txBody>
      </p:sp>
      <p:sp>
        <p:nvSpPr>
          <p:cNvPr id="56" name="Shape 50"/>
          <p:cNvSpPr/>
          <p:nvPr/>
        </p:nvSpPr>
        <p:spPr>
          <a:xfrm>
            <a:off x="428625" y="4461272"/>
            <a:ext cx="8286750" cy="855464"/>
          </a:xfrm>
          <a:prstGeom prst="rect">
            <a:avLst/>
          </a:prstGeom>
          <a:solidFill>
            <a:srgbClr val="334E6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596110"/>
            <a:ext cx="100013" cy="114300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728663" y="4575572"/>
            <a:ext cx="15414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Future Research Directions</a:t>
            </a:r>
            <a:endParaRPr lang="en-US" sz="784" dirty="0"/>
          </a:p>
        </p:txBody>
      </p:sp>
      <p:sp>
        <p:nvSpPr>
          <p:cNvPr id="59" name="Text 52"/>
          <p:cNvSpPr/>
          <p:nvPr/>
        </p:nvSpPr>
        <p:spPr>
          <a:xfrm>
            <a:off x="571500" y="4816673"/>
            <a:ext cx="3957638" cy="15001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Long-term patient outcomes and quality of life</a:t>
            </a:r>
            <a:endParaRPr lang="en-US" sz="727" dirty="0"/>
          </a:p>
        </p:txBody>
      </p:sp>
      <p:sp>
        <p:nvSpPr>
          <p:cNvPr id="60" name="Text 53"/>
          <p:cNvSpPr/>
          <p:nvPr/>
        </p:nvSpPr>
        <p:spPr>
          <a:xfrm>
            <a:off x="4614863" y="4816673"/>
            <a:ext cx="3957638" cy="15001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Cost-effectiveness analysis and health economics</a:t>
            </a:r>
            <a:endParaRPr lang="en-US" sz="727" dirty="0"/>
          </a:p>
        </p:txBody>
      </p:sp>
      <p:sp>
        <p:nvSpPr>
          <p:cNvPr id="61" name="Text 54"/>
          <p:cNvSpPr/>
          <p:nvPr/>
        </p:nvSpPr>
        <p:spPr>
          <a:xfrm>
            <a:off x="571500" y="5052417"/>
            <a:ext cx="3957638" cy="15001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Algorithm optimization to reduce false positives</a:t>
            </a:r>
            <a:endParaRPr lang="en-US" sz="727" dirty="0"/>
          </a:p>
        </p:txBody>
      </p:sp>
      <p:sp>
        <p:nvSpPr>
          <p:cNvPr id="62" name="Text 55"/>
          <p:cNvSpPr/>
          <p:nvPr/>
        </p:nvSpPr>
        <p:spPr>
          <a:xfrm>
            <a:off x="4614863" y="5052417"/>
            <a:ext cx="3957638" cy="15001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Equitable implementation across diverse populations</a:t>
            </a:r>
            <a:endParaRPr lang="en-US" sz="727" dirty="0"/>
          </a:p>
        </p:txBody>
      </p:sp>
      <p:sp>
        <p:nvSpPr>
          <p:cNvPr id="63" name="Text 56"/>
          <p:cNvSpPr/>
          <p:nvPr/>
        </p:nvSpPr>
        <p:spPr>
          <a:xfrm>
            <a:off x="571500" y="4816673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64" name="Text 57"/>
          <p:cNvSpPr/>
          <p:nvPr/>
        </p:nvSpPr>
        <p:spPr>
          <a:xfrm>
            <a:off x="4614863" y="4816673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65" name="Text 58"/>
          <p:cNvSpPr/>
          <p:nvPr/>
        </p:nvSpPr>
        <p:spPr>
          <a:xfrm>
            <a:off x="571500" y="505241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  <p:sp>
        <p:nvSpPr>
          <p:cNvPr id="66" name="Text 59"/>
          <p:cNvSpPr/>
          <p:nvPr/>
        </p:nvSpPr>
        <p:spPr>
          <a:xfrm>
            <a:off x="4614863" y="505241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→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0203"/>
            <a:ext cx="4071938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0B2545"/>
                </a:solidFill>
              </a:rPr>
              <a:t>AI: </a:t>
            </a:r>
            <a:r>
              <a:rPr lang="en-US" sz="1808" b="1" dirty="0">
                <a:solidFill>
                  <a:srgbClr val="E63946"/>
                </a:solidFill>
              </a:rPr>
              <a:t>A Valuable Assistant</a:t>
            </a:r>
            <a:r>
              <a:rPr lang="en-US" sz="1808" b="1" dirty="0">
                <a:solidFill>
                  <a:srgbClr val="0B2545"/>
                </a:solidFill>
              </a:rPr>
              <a:t>, Not a Replacement</a:t>
            </a:r>
            <a:endParaRPr lang="en-US" sz="180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8" y="1505266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8675" y="1437401"/>
            <a:ext cx="367188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B2545"/>
                </a:solidFill>
              </a:rPr>
              <a:t>Modest but Real Benefit:</a:t>
            </a:r>
            <a:r>
              <a:rPr lang="en-US" sz="784" b="1" dirty="0">
                <a:solidFill>
                  <a:srgbClr val="334E68"/>
                </a:solidFill>
              </a:rPr>
              <a:t> AI improves cancer detection by 7.7%, which is clinically meaningful but less than industry claims (+17.6%).</a:t>
            </a:r>
            <a:endParaRPr lang="en-US" sz="784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8" y="2153869"/>
            <a:ext cx="200025" cy="2000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28675" y="2086003"/>
            <a:ext cx="367188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B2545"/>
                </a:solidFill>
              </a:rPr>
              <a:t>Transparency Matters:</a:t>
            </a:r>
            <a:r>
              <a:rPr lang="en-US" sz="784" b="1" dirty="0">
                <a:solidFill>
                  <a:srgbClr val="334E68"/>
                </a:solidFill>
              </a:rPr>
              <a:t> Independent reproduction revealed a 10% discrepancy, highlighting the importance of replication and peer review.</a:t>
            </a:r>
            <a:endParaRPr lang="en-US" sz="784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84" y="2802471"/>
            <a:ext cx="250031" cy="2000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28675" y="2734605"/>
            <a:ext cx="367188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B2545"/>
                </a:solidFill>
              </a:rPr>
              <a:t>Holistic Evaluation:</a:t>
            </a:r>
            <a:r>
              <a:rPr lang="en-US" sz="784" b="1" dirty="0">
                <a:solidFill>
                  <a:srgbClr val="334E68"/>
                </a:solidFill>
              </a:rPr>
              <a:t> Success cannot be measured by detection rates alone—consider patient burden, costs, and psychological impact.</a:t>
            </a:r>
            <a:endParaRPr lang="en-US" sz="784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8" y="3451073"/>
            <a:ext cx="200025" cy="20002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28675" y="3383207"/>
            <a:ext cx="367188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B2545"/>
                </a:solidFill>
              </a:rPr>
              <a:t>Ethical Imperative:</a:t>
            </a:r>
            <a:r>
              <a:rPr lang="en-US" sz="784" b="1" dirty="0">
                <a:solidFill>
                  <a:srgbClr val="334E68"/>
                </a:solidFill>
              </a:rPr>
              <a:t> Question industry claims, demand independent validation, and prioritize patient welfare over technological adoption.</a:t>
            </a:r>
            <a:endParaRPr lang="en-US" sz="784" dirty="0"/>
          </a:p>
        </p:txBody>
      </p:sp>
      <p:sp>
        <p:nvSpPr>
          <p:cNvPr id="12" name="Shape 5"/>
          <p:cNvSpPr/>
          <p:nvPr/>
        </p:nvSpPr>
        <p:spPr>
          <a:xfrm>
            <a:off x="428625" y="4060385"/>
            <a:ext cx="4071938" cy="8001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6"/>
          <p:cNvSpPr/>
          <p:nvPr/>
        </p:nvSpPr>
        <p:spPr>
          <a:xfrm>
            <a:off x="428625" y="4060385"/>
            <a:ext cx="4071938" cy="28575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/>
          <p:nvPr/>
        </p:nvSpPr>
        <p:spPr>
          <a:xfrm>
            <a:off x="428625" y="4060385"/>
            <a:ext cx="4071938" cy="800100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The Future of Screening:</a:t>
            </a:r>
            <a:r>
              <a:rPr lang="en-US" sz="734" b="1" dirty="0">
                <a:solidFill>
                  <a:srgbClr val="FFFFFF"/>
                </a:solidFill>
              </a:rPr>
              <a:t> Not AI replacing radiologists—it's AI assisting radiologists in delivering better care with rigorous evaluation and ethical oversight.</a:t>
            </a:r>
            <a:endParaRPr lang="en-US" sz="734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1605111"/>
            <a:ext cx="4071938" cy="22904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5486</TotalTime>
  <Words>1041</Words>
  <Application>Microsoft Macintosh PowerPoint</Application>
  <PresentationFormat>On-screen Show (16:9)</PresentationFormat>
  <Paragraphs>194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Adja Sarr</cp:lastModifiedBy>
  <cp:revision>3</cp:revision>
  <dcterms:created xsi:type="dcterms:W3CDTF">2025-11-28T08:34:56Z</dcterms:created>
  <dcterms:modified xsi:type="dcterms:W3CDTF">2025-12-02T04:02:04Z</dcterms:modified>
</cp:coreProperties>
</file>